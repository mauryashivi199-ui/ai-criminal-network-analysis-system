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46304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SOFTWARE EDITION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36576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@SIH Idea submission – Template                       Team Nexora                                              30 September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05840"/>
            <a:ext cx="713232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926080"/>
            <a:ext cx="237744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PROBLEM STATEMENT ID: SIH26189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6583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0F172A"/>
                </a:solidFill>
              </a:defRPr>
            </a:pPr>
            <a:r>
              <a:t>AI-Powered Criminal Network</a:t>
            </a:r>
            <a:br/>
            <a:r>
              <a:t>Analysis System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Heterogeneous Graph Intelligence &amp; Link Analysis for Syndicate Discovery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005840"/>
            <a:ext cx="3657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ORGANIZATION / MINISTRY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Ministry of Home Affairs (MHA)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005840"/>
            <a:ext cx="73152" cy="1463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79" y="2743200"/>
            <a:ext cx="3657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THEME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Blockchain &amp; Cybersecurity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743200"/>
            <a:ext cx="73152" cy="1463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79" y="4480560"/>
            <a:ext cx="3657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TEAM NAME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Team Nexora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4480560"/>
            <a:ext cx="73152" cy="1463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320040"/>
            <a:ext cx="91440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SLIDE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36576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@SIH Idea submission – Template                       Team Nexora                                              30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PROPOSED 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094415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❖ KNOWLEDGE GRAPH &amp; AI LINK ANALYSIS CONCEPT DIAGRAM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28800"/>
            <a:ext cx="237744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MULTI-SOURCE FEEDS</a:t>
            </a:r>
            <a:br/>
            <a:br/>
            <a:r>
              <a:t>📞 CDR &amp; IP Logs</a:t>
            </a:r>
            <a:br/>
            <a:br/>
            <a:r>
              <a:t>📄 CCTNS FIR Records</a:t>
            </a:r>
            <a:br/>
            <a:br/>
            <a:r>
              <a:t>💳 Bank &amp; Crypto Wallets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7432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563EB"/>
                </a:solidFill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1828800"/>
            <a:ext cx="3474720" cy="23774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🧠 Heterogeneous Graph AI Engine</a:t>
            </a:r>
            <a:br/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NetworkX / Neo4j Graph DB</a:t>
            </a:r>
            <a:br/>
            <a:r>
              <a:t>• Temporal GNN Embeddings</a:t>
            </a:r>
            <a:br/>
            <a:r>
              <a:t>• Betweenness Centrality &amp; PageRank</a:t>
            </a:r>
            <a:br/>
            <a:r>
              <a:t>• Louvain Sub-Gang Community Detection</a:t>
            </a:r>
            <a:br/>
            <a:r>
              <a:t>• Adamic-Adar Covert Link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7432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563EB"/>
                </a:solidFill>
              </a:defRPr>
            </a:pPr>
            <a:r>
              <a:t>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291840" cy="109728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065F46"/>
                </a:solidFill>
              </a:defRPr>
            </a:pPr>
            <a:r>
              <a:t>👑 Syndicate &amp; Kingpin Discovery</a:t>
            </a:r>
            <a:br/>
            <a:r>
              <a:t>Uncovers masterminds, brokers &amp; cross-state sleeper cells.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108960"/>
            <a:ext cx="3291840" cy="1097280"/>
          </a:xfrm>
          <a:prstGeom prst="roundRect">
            <a:avLst/>
          </a:prstGeom>
          <a:solidFill>
            <a:srgbClr val="FFF7ED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9A3412"/>
                </a:solidFill>
              </a:defRPr>
            </a:pPr>
            <a:r>
              <a:t>🔒 Immutable Evidence &amp; Dossier</a:t>
            </a:r>
            <a:br/>
            <a:r>
              <a:t>Tamper-proof SHA-256 logs for court admissibility (BSA 2023).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35204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7490"/>
                </a:solidFill>
              </a:defRPr>
            </a:pPr>
            <a:r>
              <a:t>✓ Multi-Source Ingestion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Automated parsing of police FIRs, telco CDRs, and crypto/UPI feeds into unified entities.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63440"/>
            <a:ext cx="3520440" cy="54864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34255" y="4663440"/>
            <a:ext cx="35204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✓ Zero Manual Silos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Replaces slow cross-referencing with instant multi-hop AI link resolution in &lt;5 seconds.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4255" y="4663440"/>
            <a:ext cx="352044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19870" y="4663440"/>
            <a:ext cx="35204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✓ Temporal Link Prediction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Predicts emerging criminal alliances and covert ties before crimes escalate.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0" y="4663440"/>
            <a:ext cx="352044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320040"/>
            <a:ext cx="91440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SLIDE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36576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@SIH Idea submission – Template                       Team Nexora                                              30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TECHNICAL APPROACH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9748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⚙ Python / PyTorch Geometric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371600"/>
            <a:ext cx="2697480" cy="36576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🗄 Neo4j / NetworkX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371600"/>
            <a:ext cx="269748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⛓ Immutable Evidence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7696" y="1371600"/>
            <a:ext cx="2697480" cy="3657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💻 FastAPI &amp; React.js Command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20240"/>
            <a:ext cx="26517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194560"/>
            <a:ext cx="914400" cy="274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E7490"/>
                </a:solidFill>
              </a:defRPr>
            </a:pPr>
            <a:r>
              <a:t>STEP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Data Ingestion &amp;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7472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Parses CDR, FIRs, OSINT, bank logs and crypto transaction feeds using NLP Named Entity Recognition (NER).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2" y="1920240"/>
            <a:ext cx="26517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47872" y="2194560"/>
            <a:ext cx="914400" cy="274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STEP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Graph Embedding &amp; Topology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347472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Constructs multi-relational knowledge graph linking Suspects, Gangs, Phones, Bank Accounts and Vehicles.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1920240"/>
            <a:ext cx="26517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64224" y="2194560"/>
            <a:ext cx="914400" cy="274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8B5CF6"/>
                </a:solidFill>
              </a:defRPr>
            </a:pPr>
            <a:r>
              <a:t>STEP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Centrality &amp; Cluster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347472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Executes PageRank, Betweenness Centrality, and Louvain modularity to isolate core syndicate kingpins.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7696" y="1920240"/>
            <a:ext cx="265176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0576" y="2194560"/>
            <a:ext cx="914400" cy="274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STEP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856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Forensic Copilot &amp; Judicial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4856" y="347472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Interactive Graph-RAG assistant and cryptographic SHA-256 evidence logging compliant with BSA 2023.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320040"/>
            <a:ext cx="91440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SLIDE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36576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@SIH Idea submission – Template                       Team Nexora                                              30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FEASIBILITY AND VIABILITY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3949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✔ Feasibility Pillars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94560"/>
            <a:ext cx="48463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Technical Feasibility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Built using production-grade open-source tools (NetworkX, PyTorch Geometric, FastAPI, Cytoscape.js, Docker). Sub-second query response over 100,000+ nodes.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14800"/>
            <a:ext cx="48463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Operational &amp; Regulatory Feasibility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Seamless REST API integration with police CCTNS, ICJS, and NATGRID portals. Compliant with Bharatiya Sakshya Adhiniyam 2023 for digital evidence admissibility.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3949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🛡 Risk &amp; Mitigation Strategy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194560"/>
            <a:ext cx="4846320" cy="1645920"/>
          </a:xfrm>
          <a:prstGeom prst="round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E11D48"/>
                </a:solidFill>
              </a:defRPr>
            </a:pPr>
            <a:r>
              <a:t>RISK: High Graph Scale &amp; Memory Complexity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Mitigation: Subgraph sampling, ego-network neighborhood partitioning, and Redis caching for instant centrality lookup.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4114800"/>
            <a:ext cx="4846320" cy="1645920"/>
          </a:xfrm>
          <a:prstGeom prst="round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E11D48"/>
                </a:solidFill>
              </a:defRPr>
            </a:pPr>
            <a:r>
              <a:t>RISK: Unauthorized Data Access &amp; Evidence Tampering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Mitigation: Role-Based Access Control (RBAC), end-to-end encrypted storage, and SHA-256 cryptographic chain-of-custody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320040"/>
            <a:ext cx="91440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SLIDE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36576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@SIH Idea submission – Template                       Team Nexora                                              30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IMPACT AND BENEFITS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265176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265176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2468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Faster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Reduces link discovery and syndicate mapping time from weeks to minutes.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920240"/>
            <a:ext cx="265176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64992" y="1920240"/>
            <a:ext cx="26517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286000"/>
            <a:ext cx="2468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338328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Evidence Integrity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40233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Cryptographic hashing guarantees judicial validity under BSA 2023.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920240"/>
            <a:ext cx="265176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81344" y="1920240"/>
            <a:ext cx="2651760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4" y="2286000"/>
            <a:ext cx="2468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</a:defRPr>
            </a:pPr>
            <a:r>
              <a:t>360°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4" y="338328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Syndicate 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40233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Unified intelligence view correlating CDRs, FIRs, Bank &amp; Crypto flows.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1920240"/>
            <a:ext cx="265176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97696" y="1920240"/>
            <a:ext cx="2651760" cy="7315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9136" y="2286000"/>
            <a:ext cx="2468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97316"/>
                </a:solidFill>
              </a:defRPr>
            </a:pPr>
            <a:r>
              <a:t>Zero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338328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Manual Silos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4856" y="40233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Automated cross-state gang link and burner phone mesh identification.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320040"/>
            <a:ext cx="91440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SLIDE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36576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@SIH Idea submission – Template                       Team Nexora                                              30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RESEARCH AND REFERENCES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3949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🎓 Academic Literature &amp; AI Benchmarks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94560"/>
            <a:ext cx="48463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Heterogeneous Graph Neural Networks (IEEE 2025)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Relational representation learning for multi-modal financial fraud and criminal syndicate detection across heterogeneous node types.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194560"/>
            <a:ext cx="73152" cy="1645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4114800"/>
            <a:ext cx="48463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Louvain Community &amp; Centrality Models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Algorithmic discovery of covert sleeper cells, money mule clusters, and critical bridge intermediaries in dense darknet networks.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14800"/>
            <a:ext cx="73152" cy="1645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3949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🏛 Government Standards &amp; Guidelines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194560"/>
            <a:ext cx="48463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MHA Interoperable Criminal Justice System (ICJS)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CCTNS data exchange protocols, metadata standardization, and Section 111 Bharatiya Nyaya Sanhita 2023 (Organized Crime) criteria.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194560"/>
            <a:ext cx="73152" cy="1645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0" y="4114800"/>
            <a:ext cx="48463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Bharatiya Sakshya Adhiniyam 2023 (BSA)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Digital evidence admissibility guidelines, electronic record hashing (SHA-256), and automated chain-of-custody verification.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114800"/>
            <a:ext cx="73152" cy="1645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