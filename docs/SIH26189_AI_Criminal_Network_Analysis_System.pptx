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292608"/>
            <a:ext cx="141732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SOFTWARE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868680"/>
            <a:ext cx="72237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2743200" cy="29260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PROBLEM STATEMENT ID: SIH26189/500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</a:defRPr>
            </a:pPr>
            <a:r>
              <a:t>AI-Powered Criminal Network</a:t>
            </a:r>
            <a:br/>
            <a:r>
              <a:t>Analysis System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Heterogeneous Graph Intelligence &amp; Link Analysis for Syndicate Discovery</a:t>
            </a:r>
          </a:p>
        </p:txBody>
      </p:sp>
      <p:pic>
        <p:nvPicPr>
          <p:cNvPr id="10" name="Picture 9" descr="3d_slide1_sph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675120" cy="3246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868680"/>
            <a:ext cx="3685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ORGANIZATION / MINISTRY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Ministry of Home Affairs (MHA)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868680"/>
            <a:ext cx="73152" cy="1600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715768"/>
            <a:ext cx="3685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THEME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Blockchain &amp; Cybersecurity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715768"/>
            <a:ext cx="73152" cy="1600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4572000"/>
            <a:ext cx="3685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TEAM NAME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Team Nexora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572000"/>
            <a:ext cx="73152" cy="1600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868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94415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d_slide2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13258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E7490"/>
                </a:solidFill>
              </a:defRPr>
            </a:pPr>
            <a:r>
              <a:t>❖ HETEROGENEOUS GRAPH AI WORKFLOW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1. Multi-Modal Ingestion: Parses CDR logs, CCTNS FIRs &amp; crypto wallets into a unified graph.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2. Graph AI Reasoning: Temporal GNNs + Betweenness Centrality uncover hidden kingpins.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3. Immutable Audit Ledger: Tamper-proof blockchain hashing for court admissibility (BSA 2023).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✓ Multi-Source Ingestion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Automated ingestion of police, telco, and crypto feeds.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3520440" cy="5486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5" y="4754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✓ Zero Manual Silos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Replaces manual cross-referencing with instant AI links in &lt;5s.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4754880"/>
            <a:ext cx="352044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0" y="4754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✓ Temporal Link Prediction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Predicts emerging criminal operations dynamically.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0" y="4754880"/>
            <a:ext cx="352044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868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697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⚙ Python / PyTorch Geometric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234440"/>
            <a:ext cx="2697480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🗄 Neo4j Graph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34440"/>
            <a:ext cx="26974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⛓ Hyperledger Fabric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234440"/>
            <a:ext cx="269748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💻 FastAPI &amp; React.js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91640"/>
            <a:ext cx="1109441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d_slide3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911535" cy="2743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475488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7490"/>
                </a:solidFill>
              </a:defRPr>
            </a:pPr>
            <a:r>
              <a:t>STEP 01: Data Ingestion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Parses CDR, FIRs, and crypto transaction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697480" cy="5486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475488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02: GNN Embedding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Node2Vec &amp; GCN entity resolution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4754880"/>
            <a:ext cx="269748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475488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STEP 03: Cluster Analysis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Louvain modularity isolates core syndicates.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754880"/>
            <a:ext cx="269748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97696" y="4754880"/>
            <a:ext cx="2697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04: Blockchain Audit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Immutable evidence hashes to Hyperledger.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4754880"/>
            <a:ext cx="2697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868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6576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✔ Feasibility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Technical Feasibility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Production-grade open-source stack (PyTorch, Neo4j, Docker)</a:t>
            </a:r>
            <a:br/>
            <a:r>
              <a:t>• Sub-second response over 100K+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Operational Feasibility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REST API integration with police CCTNS &amp; NATGRID</a:t>
            </a:r>
            <a:br/>
            <a:r>
              <a:t>• Compliant with BSA 2023 court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d_slide4_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3200400" cy="46634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955279" y="1280160"/>
            <a:ext cx="3685032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🛡 Risk &amp; Mitigation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291840" cy="182880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RISK: Graph Scale Complexity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Mitigation: Subgraph sampling, ego-network partitioning &amp; GPU sharding.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31920"/>
            <a:ext cx="3291840" cy="19202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RISK: Data Access Leakage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Mitigation: Role-Based Access (RBAC), end-to-end encryption &amp; SHA-256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868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9441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d_slide5_ra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3108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66344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2651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85% - Faster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Reduces link discovery time from weeks to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66344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2" y="4663440"/>
            <a:ext cx="26517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4709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100% - Evidence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Blockchain hashing guarantees judicial validity.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466344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4663440"/>
            <a:ext cx="265176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4709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360° - Syndicate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Unified view across CDR, CCTNS &amp; crypto logs.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466344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4663440"/>
            <a:ext cx="2651760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4709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Zero - Manual Silos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Automated cross-state gang link identification.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868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6576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🎓 Academic Literature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Heterogeneous GNNs (IEEE 2025)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Relational learning for complex fraud &amp; criminal link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73152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Louvain Community Models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Algorithmic discovery of sleeper cells in dense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73152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d_slide6_stand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3200400" cy="46634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955279" y="1280160"/>
            <a:ext cx="3685032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🏛 Government Standards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MHA ICJS Guidelines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CCTNS data exchange protocols &amp; metadata standards.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20240"/>
            <a:ext cx="73152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2918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Hyperledger &amp; BSA 2023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NIST specifications for immutable chain-of-custody.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31920"/>
            <a:ext cx="73152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